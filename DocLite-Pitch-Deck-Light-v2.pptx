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1A7F3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6202E"/>
                    </a:solidFill>
                    <a:latin typeface="Consola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7F37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62B3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Class I</c:v>
                  </c:pt>
                  <c:pt idx="1">
                    <c:v>Class III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65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6202E"/>
                  </a:solidFill>
                  <a:latin typeface="Consola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5DCE5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6202E"/>
                </a:solidFill>
                <a:latin typeface="Segoe U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9144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 PAPER. MORE PROOF.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502920" y="292608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Risk-Based Documentation Reduction Engine for Medical Devices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3794760"/>
            <a:ext cx="41148" cy="105156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3794760"/>
            <a:ext cx="69494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don’t help you write 200 documents faster.</a:t>
            </a:r>
            <a:endParaRPr lang="en-US" sz="1900" dirty="0"/>
          </a:p>
          <a:p>
            <a:pPr indent="0" marL="0">
              <a:lnSpc>
                <a:spcPts val="2800"/>
              </a:lnSpc>
              <a:buNone/>
            </a:pPr>
            <a:r>
              <a:rPr lang="en-US" sz="1900" i="1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prove you only needed 80.”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02920" y="6126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 ·  3 advisory AI agents  ·  every decision clause-cited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Regulation is risk-based. Documentation practice isn’t.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6400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ts val="2300"/>
              </a:lnSpc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MDR 2017/745 explicitly scales requirements to device risk — that’s the whole premise of Annex VIII.
</a:t>
            </a:r>
            <a:pPr indent="0" marL="0">
              <a:lnSpc>
                <a:spcPts val="23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Manufacturers apply the same documentation rigor to a Class I stethoscope as to a Class III implant anyway.
</a:t>
            </a:r>
            <a:pPr indent="0" marL="0">
              <a:lnSpc>
                <a:spcPts val="23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tool defensibly maps device risk down to a minimal compliant documentation set — with proof for every cut.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98080" y="1965960"/>
            <a:ext cx="4160520" cy="237744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965960"/>
            <a:ext cx="45720" cy="237744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2148840"/>
            <a:ext cx="2011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7772400" y="3291840"/>
            <a:ext cx="3611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EU MDR risk classes (I, IIa, IIb, III) — one uniform paper trail applied across all of them, today.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EXISTING TOOLS DON’T FIX THIS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optimizes the wrong variable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011680"/>
            <a:ext cx="54406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FormlyAI / Dovetail · Celegence CAPTIS · Greenlight Guru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420624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23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Write your 200 documents faster.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6263640" y="2011680"/>
            <a:ext cx="5440680" cy="3566160"/>
          </a:xfrm>
          <a:prstGeom prst="rect">
            <a:avLst/>
          </a:prstGeom>
          <a:solidFill>
            <a:srgbClr val="E3F2EF"/>
          </a:solidFill>
          <a:ln w="19050">
            <a:solidFill>
              <a:srgbClr val="0E7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DOCLITE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0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Risk-based reduction with regulatory proof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83680" y="3794760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2800"/>
              </a:lnSpc>
              <a:buNone/>
            </a:pPr>
            <a:r>
              <a:rPr lang="en-US" sz="23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Show you only needed 80 of them — with clause-cited proof for every one removed.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Classify. Generate. Prove.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0292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· CLASSIFY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 class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3152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applicable EU MDR Annex VIII rule is evaluated; the strictest hit wins, per Annex VIII 3.5. Rule ties are stated, never hidden.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91363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29768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6" name="Text 14"/>
          <p:cNvSpPr/>
          <p:nvPr/>
        </p:nvSpPr>
        <p:spPr>
          <a:xfrm>
            <a:off x="452628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· GENERATE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Minimal set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35 tracked artifacts sorted into Required, Conditional, or Eliminated for that exact class.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08392" y="3429000"/>
            <a:ext cx="3566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092440" y="2240280"/>
            <a:ext cx="3383280" cy="29260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92440" y="2240280"/>
            <a:ext cx="3383280" cy="45720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· PROVE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278892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Cited decision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321040" y="3383280"/>
            <a:ext cx="292608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ISO 13485 clause and EU MDR reference attach to every artifact — in all three buckets, eliminations included.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IT’S BUILT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at the edges, deterministic engine at the core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2103120" y="196596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03120" y="200253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text · device image (PNG/JPEG) · form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103120" y="225856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intake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103120" y="24597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642616"/>
            <a:ext cx="5852160" cy="530352"/>
          </a:xfrm>
          <a:prstGeom prst="rect">
            <a:avLst/>
          </a:prstGeom>
          <a:solidFill>
            <a:srgbClr val="E3F2EF"/>
          </a:solidFill>
          <a:ln w="17780">
            <a:solidFill>
              <a:srgbClr val="0E7D6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03120" y="2679192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AI agents — Intake Parser · Auditor · Narrator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103120" y="293522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schema-constrained · offline mock fallback · advisory only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103120" y="31363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103120" y="3319272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03120" y="335584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DeviceProfile — 16 typed attributes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103120" y="361188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 fill the same form a human uses; no privileged write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03120" y="38130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103120" y="3995928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4032504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Rules engine — classify.ts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2103120" y="4288536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EU MDR Annex VIII · strictest rule wins · pure TypeScript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103120" y="4489704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4672584"/>
            <a:ext cx="5852160" cy="530352"/>
          </a:xfrm>
          <a:prstGeom prst="rect">
            <a:avLst/>
          </a:prstGeom>
          <a:solidFill>
            <a:srgbClr val="FDF5E2"/>
          </a:solidFill>
          <a:ln w="17780">
            <a:solidFill>
              <a:srgbClr val="9669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03120" y="47091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Knowledge base × filter — 35 artifacts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103120" y="4965192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bucket + ISO 13485 / MDR / QMSR citation + effort-hours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103120" y="5166360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▾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03120" y="5349240"/>
            <a:ext cx="5852160" cy="530352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103120" y="5385816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UI — class card · bucket tabs · traceability · export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2103120" y="5641848"/>
            <a:ext cx="5852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recomputes live · Markdown export with disclaimer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03920" y="2468880"/>
            <a:ext cx="3063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5DCE5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8686800" y="2606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LLM GATEWAY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686800" y="288036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Reasoning, vision &amp; prose models. API key injected server-side by the proxy — never in the browser bundle.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MODELS BEHIND THE AGENTS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Right model for each job — routed per call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GPT-5.4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REASONING · STRUCTURED EXTRACTION · VISION / OCR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1 — Intake Parser · Agent 2 — Auditor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Strongest reasoning tier. Parses free text and device images into the 16 typed profile attributes under a strict JSON schema, and independently re-classifies devices against Annex VIII to challenge the engine.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4340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4340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GPT-5.2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457200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REPORT-QUALITY PROSE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3 — Narrator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Tuned for long-form writing. Turns each clause-cited elimination into 2–3 sentences of formal technical-file narrative, in the register an auditor expects.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183880" y="2103120"/>
            <a:ext cx="3611880" cy="35661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183880" y="2103120"/>
            <a:ext cx="3611880" cy="54864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24" name="Text 22"/>
          <p:cNvSpPr/>
          <p:nvPr/>
        </p:nvSpPr>
        <p:spPr>
          <a:xfrm>
            <a:off x="8412480" y="233172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GPT-5 Mini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412480" y="28346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spc="5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 / LOW-COST UTILITY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8412480" y="3401568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3520440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agent — infrastructure only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412480" y="4069080"/>
            <a:ext cx="3154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Validates a newly entered API key with one cheap round-trip before accepting it, and stands by as a fallback route if the larger deployments are saturated.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02920" y="58521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call is schema-constrained (strict JSON), retried on gateway errors, and falls back to a deterministic offline mock — the demo never depends on any of these models being reachable.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DEFENSIBILITY ARGUMENT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69848" y="1600200"/>
            <a:ext cx="100584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parses and explains.
</a:t>
            </a:r>
            <a:pPr algn="ctr" indent="0" marL="0">
              <a:lnSpc>
                <a:spcPts val="4400"/>
              </a:lnSpc>
              <a:buNone/>
            </a:pPr>
            <a:r>
              <a:rPr lang="en-US" sz="3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deterministic engine decides.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212848" y="3520440"/>
            <a:ext cx="77724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LLM output ever sets a device class or moves an artifact between buckets.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That logic is plain, synchronous TypeScript.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Same profile in, same checklist out — every time. Fully reproducible, fully auditable, regression-gated.
</a:t>
            </a:r>
            <a:pPr algn="ctr" indent="0" marL="0">
              <a:lnSpc>
                <a:spcPts val="2200"/>
              </a:lnSpc>
              <a:spcAft>
                <a:spcPts val="400"/>
              </a:spcAft>
              <a:buNone/>
            </a:pPr>
            <a:r>
              <a:rPr lang="en-US" sz="15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is the direct answer to “you can’t let AI decide medical device compliance.” We don’t.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DECISION, TRACED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 → MDR reference → ISO clause — in all three buckets</a:t>
            </a:r>
            <a:endParaRPr lang="en-US" sz="25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solidFill>
            <a:srgbClr val="FDECEC"/>
          </a:solidFill>
          <a:ln w="12700">
            <a:solidFill>
              <a:srgbClr val="C62B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62B3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Clinical Evaluation Report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3152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sepsis SaMD · Class III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MDR Art. 61 · Annex XIV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solidFill>
            <a:srgbClr val="FDF5E2"/>
          </a:solidFill>
          <a:ln w="12700">
            <a:solidFill>
              <a:srgbClr val="9669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96690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4340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Instructions for Use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7200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thermometer · Class IIa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§23.1(d) — omission possible for Class I/IIa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solidFill>
            <a:srgbClr val="E5F3E9"/>
          </a:solidFill>
          <a:ln w="12700">
            <a:solidFill>
              <a:srgbClr val="1A7F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1A7F3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ELIMINATED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83880" y="2606040"/>
            <a:ext cx="3611880" cy="274320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2834640"/>
            <a:ext cx="3154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IEC 62304 Software File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412480" y="3474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scissors · Class Ir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412480" y="4480560"/>
            <a:ext cx="3154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12480" y="457200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Annex I §17.1 — n/a, no software component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RIGOR SCALES WITH 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Effort-hours saved vs. the uniform-rigor baseline</a:t>
            </a:r>
            <a:endParaRPr lang="en-US" sz="2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822960" y="214884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6675120" y="2834640"/>
            <a:ext cx="4892040" cy="173736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949440" y="301752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Class I stethoscope sheds ~65% of the uniform paper trail; a Class III AI diagnostic keeps ~89% of it.
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IIa and IIb fall between — each device’s exact savings come from its specific artifact mix, not a fixed interpolation.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 IT LIVE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pre-verified devices, spanning Class I to III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194560"/>
            <a:ext cx="2148840" cy="54864"/>
          </a:xfrm>
          <a:prstGeom prst="rect">
            <a:avLst/>
          </a:prstGeom>
          <a:solidFill>
            <a:srgbClr val="1A7F37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STETHOSCOPE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Non-invasive, passive — baseline case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61488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194560"/>
            <a:ext cx="2148840" cy="54864"/>
          </a:xfrm>
          <a:prstGeom prst="rect">
            <a:avLst/>
          </a:prstGeom>
          <a:solidFill>
            <a:srgbClr val="5C9E52"/>
          </a:solidFill>
          <a:ln/>
        </p:spPr>
      </p:sp>
      <p:sp>
        <p:nvSpPr>
          <p:cNvPr id="15" name="Text 13"/>
          <p:cNvSpPr/>
          <p:nvPr/>
        </p:nvSpPr>
        <p:spPr>
          <a:xfrm>
            <a:off x="2944368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2944368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SURGICAL SCISSORS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944368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Reusable surgical instrument — special label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0056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0056" y="2194560"/>
            <a:ext cx="2148840" cy="54864"/>
          </a:xfrm>
          <a:prstGeom prst="rect">
            <a:avLst/>
          </a:prstGeom>
          <a:solidFill>
            <a:srgbClr val="96690A"/>
          </a:solidFill>
          <a:ln/>
        </p:spPr>
      </p:sp>
      <p:sp>
        <p:nvSpPr>
          <p:cNvPr id="20" name="Text 18"/>
          <p:cNvSpPr/>
          <p:nvPr/>
        </p:nvSpPr>
        <p:spPr>
          <a:xfrm>
            <a:off x="5202936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IIa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5202936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 THERMOMETER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202936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low risk — conditional IFU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278624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78624" y="2194560"/>
            <a:ext cx="2148840" cy="54864"/>
          </a:xfrm>
          <a:prstGeom prst="rect">
            <a:avLst/>
          </a:prstGeom>
          <a:solidFill>
            <a:srgbClr val="BC4C00"/>
          </a:solidFill>
          <a:ln/>
        </p:spPr>
      </p:sp>
      <p:sp>
        <p:nvSpPr>
          <p:cNvPr id="25" name="Text 23"/>
          <p:cNvSpPr/>
          <p:nvPr/>
        </p:nvSpPr>
        <p:spPr>
          <a:xfrm>
            <a:off x="7461504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IIb</a:t>
            </a:r>
            <a:endParaRPr lang="en-US" sz="2300" dirty="0"/>
          </a:p>
        </p:txBody>
      </p:sp>
      <p:sp>
        <p:nvSpPr>
          <p:cNvPr id="26" name="Text 24"/>
          <p:cNvSpPr/>
          <p:nvPr/>
        </p:nvSpPr>
        <p:spPr>
          <a:xfrm>
            <a:off x="7461504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HEMODIALYSIS MACHINE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61504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Active, higher risk — life-supporting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537192" y="2194560"/>
            <a:ext cx="2148840" cy="2468880"/>
          </a:xfrm>
          <a:prstGeom prst="rect">
            <a:avLst/>
          </a:prstGeom>
          <a:solidFill>
            <a:srgbClr val="F4F6F8"/>
          </a:solidFill>
          <a:ln w="12700">
            <a:solidFill>
              <a:srgbClr val="D5DC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37192" y="2194560"/>
            <a:ext cx="2148840" cy="54864"/>
          </a:xfrm>
          <a:prstGeom prst="rect">
            <a:avLst/>
          </a:prstGeom>
          <a:solidFill>
            <a:srgbClr val="C62B38"/>
          </a:solidFill>
          <a:ln/>
        </p:spPr>
      </p:sp>
      <p:sp>
        <p:nvSpPr>
          <p:cNvPr id="30" name="Text 28"/>
          <p:cNvSpPr/>
          <p:nvPr/>
        </p:nvSpPr>
        <p:spPr>
          <a:xfrm>
            <a:off x="9720072" y="242316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III</a:t>
            </a:r>
            <a:endParaRPr lang="en-US" sz="2300" dirty="0"/>
          </a:p>
        </p:txBody>
      </p:sp>
      <p:sp>
        <p:nvSpPr>
          <p:cNvPr id="31" name="Text 29"/>
          <p:cNvSpPr/>
          <p:nvPr/>
        </p:nvSpPr>
        <p:spPr>
          <a:xfrm>
            <a:off x="9720072" y="290779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5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SEPSIS SAMD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9720072" y="3566160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as a medical device — highest scrutiny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493776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 RISK  ─────────────────────────────→  HIGH RISK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WE’RE NOT CLAIMING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5488" y="658368"/>
            <a:ext cx="11155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limitations, stated openly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02920" y="2148840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13432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DECISION SUPPORT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80360" y="2267712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Not a sign-off. An RA professional signs off — disclaimed in the UI and in every export.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081528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RULE COVERAGE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3200400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Demo-scoped subset of Annex VIII. Rules 4, 12, and 15–22 (except 14) are not yet implemented.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4014216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7880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“ELIMINATED”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80360" y="4133088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Means regulatory minimum — a Notified Body or customer may still request the document.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946904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111496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b="1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 CLASS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80360" y="5065776"/>
            <a:ext cx="8778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 indicative mapping, not a product-code determination.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502920" y="5879592"/>
            <a:ext cx="11155680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0E7D6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6473952"/>
            <a:ext cx="11185855" cy="914"/>
          </a:xfrm>
          <a:prstGeom prst="rect">
            <a:avLst/>
          </a:prstGeom>
          <a:noFill/>
          <a:ln w="9525">
            <a:solidFill>
              <a:srgbClr val="D5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51052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8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</a:t>
            </a:r>
            <a:pPr indent="0" marL="0">
              <a:buNone/>
            </a:pPr>
            <a:r>
              <a:rPr lang="en-US" sz="1000" b="1" dirty="0">
                <a:solidFill>
                  <a:srgbClr val="0E7D6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0545775" y="6510528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1115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spc="300" kern="0" dirty="0">
                <a:solidFill>
                  <a:srgbClr val="0E7D6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THANK YOU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98448" y="219456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competitor here sells speed on 200 documents.
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0E7D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DocLite sells proof that 120 of them were never required</a:t>
            </a:r>
            <a:pPr algn="ctr" indent="0" marL="0">
              <a:lnSpc>
                <a:spcPts val="3600"/>
              </a:lnSpc>
              <a:buNone/>
            </a:pPr>
            <a:r>
              <a:rPr lang="en-US" sz="2700" dirty="0">
                <a:solidFill>
                  <a:srgbClr val="1620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with the clause number to back up every one we cut.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298448" y="45720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Deterministic rules engine · 3 advisory AI agents · clause-cited eliminations · Vite + React 19 + TypeScript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98448" y="507492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5A68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2026-07-09T08:51:40Z</dcterms:created>
  <dcterms:modified xsi:type="dcterms:W3CDTF">2026-07-09T08:51:40Z</dcterms:modified>
</cp:coreProperties>
</file>