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Reduction</c:v>
                </c:pt>
              </c:strCache>
            </c:strRef>
          </c:tx>
          <c:spPr>
            <a:solidFill>
              <a:srgbClr val="1A7F3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600" u="none">
                    <a:solidFill>
                      <a:srgbClr val="16202E"/>
                    </a:solidFill>
                    <a:latin typeface="Consola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A7F3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62B38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Class I</c:v>
                  </c:pt>
                  <c:pt idx="1">
                    <c:v>Class III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64</c:v>
                </c:pt>
                <c:pt idx="1">
                  <c:v>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600" u="none">
                  <a:solidFill>
                    <a:srgbClr val="16202E"/>
                  </a:solidFill>
                  <a:latin typeface="Consola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5DCE5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6202E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914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LESS PAPER. MORE PROOF.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DocLite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502920" y="29260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AI-Powered Risk-Based Documentation Reduction Engine for Medical Devices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3794760"/>
            <a:ext cx="41148" cy="1051560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3794760"/>
            <a:ext cx="6949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900" i="1" dirty="0">
                <a:solidFill>
                  <a:srgbClr val="0E7D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“We don’t help you write 200 documents faster.</a:t>
            </a:r>
            <a:endParaRPr lang="en-US" sz="19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900" i="1" dirty="0">
                <a:solidFill>
                  <a:srgbClr val="0E7D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prove you only needed 80.”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02920" y="6126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Deterministic rules engine  ·  3 advisory AI agents  ·  every decision clause-cited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6473952"/>
            <a:ext cx="11185855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</a:t>
            </a:r>
            <a:pPr indent="0" marL="0">
              <a:buNone/>
            </a:pPr>
            <a:r>
              <a:rPr lang="en-US" sz="1000" b="1" dirty="0">
                <a:solidFill>
                  <a:srgbClr val="0E7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45775" y="651052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CASE — WHAT DOCLITE SOLVES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65836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stethoscope shouldn’t need the same paperwork as an implant.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Today, it gets it.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02920" y="2240280"/>
            <a:ext cx="6400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ts val="21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law already scales. </a:t>
            </a:r>
            <a:pPr indent="0" marL="0">
              <a:lnSpc>
                <a:spcPts val="2100"/>
              </a:lnSpc>
              <a:spcAft>
                <a:spcPts val="1400"/>
              </a:spcAft>
              <a:buNone/>
            </a:pPr>
            <a:r>
              <a:rPr lang="en-US" sz="145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EU MDR’s four risk classes exist precisely so a stethoscope isn’t treated like a heart implant. Risk-based documentation is the regulation’s explicit design — not our idea.</a:t>
            </a:r>
            <a:endParaRPr lang="en-US" sz="1450" dirty="0"/>
          </a:p>
          <a:p>
            <a:pPr marL="228600" indent="-228600">
              <a:lnSpc>
                <a:spcPts val="21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Practice doesn’t. </a:t>
            </a:r>
            <a:pPr indent="0" marL="0">
              <a:lnSpc>
                <a:spcPts val="2100"/>
              </a:lnSpc>
              <a:spcAft>
                <a:spcPts val="1400"/>
              </a:spcAft>
              <a:buNone/>
            </a:pPr>
            <a:r>
              <a:rPr lang="en-US" sz="145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Manufacturers run one uniform documentation checklist across all four classes — ~1,880 effort-hours of documents applied to every device, whatever its risk.</a:t>
            </a:r>
            <a:endParaRPr lang="en-US" sz="1450" dirty="0"/>
          </a:p>
          <a:p>
            <a:pPr marL="228600" indent="-228600">
              <a:lnSpc>
                <a:spcPts val="21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Because nobody dares to cut. </a:t>
            </a:r>
            <a:pPr indent="0" marL="0">
              <a:lnSpc>
                <a:spcPts val="2100"/>
              </a:lnSpc>
              <a:spcAft>
                <a:spcPts val="1400"/>
              </a:spcAft>
              <a:buNone/>
            </a:pPr>
            <a:r>
              <a:rPr lang="en-US" sz="145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Omitting a document without defensible proof is a compliance risk, so teams write everything. The missing piece isn’t writing faster — it’s proof of what you’re allowed to leave out.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498080" y="2331720"/>
            <a:ext cx="4160520" cy="256032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0" y="2331720"/>
            <a:ext cx="45720" cy="2560320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0" y="251460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64%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7772400" y="3657600"/>
            <a:ext cx="3611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the uniform documentation effort is provably unnecessary for a Class I device.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gets written anyway.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6473952"/>
            <a:ext cx="11185855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</a:t>
            </a:r>
            <a:pPr indent="0" marL="0">
              <a:buNone/>
            </a:pPr>
            <a:r>
              <a:rPr lang="en-US" sz="1000" b="1" dirty="0">
                <a:solidFill>
                  <a:srgbClr val="0E7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45775" y="651052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MARKET TODAY — AND WHY DOCLITE WINS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65836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Everyone else optimizes writing speed. Nobody optimizes scope.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502920" y="2057400"/>
            <a:ext cx="11155680" cy="713232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130552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FormlyAI / Dovetail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474720" y="2130552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AI-assisted drafting of regulatory documents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543800" y="2130552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62B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Writes every document faster — never asks if it’s needed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862072"/>
            <a:ext cx="11155680" cy="713232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935224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Celegence CAPTIS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474720" y="2935224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Technical-file authoring &amp; submission management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543800" y="2935224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62B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Manages the full 200-doc pile — the pile itself is untouched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3666744"/>
            <a:ext cx="11155680" cy="713232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739896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Greenlight Guru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474720" y="3739896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eQMS workflow platform for medical devices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543800" y="3739896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62B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Workflows around uniform rigor — same checklist for every class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4517136"/>
            <a:ext cx="11155680" cy="1417320"/>
          </a:xfrm>
          <a:prstGeom prst="rect">
            <a:avLst/>
          </a:prstGeom>
          <a:solidFill>
            <a:srgbClr val="E3F2EF"/>
          </a:solidFill>
          <a:ln w="19050">
            <a:solidFill>
              <a:srgbClr val="0E7D6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654296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DOCLITE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4974336"/>
            <a:ext cx="6035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Classifies risk deterministically, then eliminates what the law never required — with a clause citation on every cut.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040880" y="4672584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64%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7040880" y="5184648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effort eliminated · Class I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577072" y="4672584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44%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8577072" y="5184648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 IIa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0113264" y="4672584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15%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0113264" y="5184648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 III — rigor kept where risk is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6473952"/>
            <a:ext cx="11185855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</a:t>
            </a:r>
            <a:pPr indent="0" marL="0">
              <a:buNone/>
            </a:pPr>
            <a:r>
              <a:rPr lang="en-US" sz="1000" b="1" dirty="0">
                <a:solidFill>
                  <a:srgbClr val="0E7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45775" y="651052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65836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Classify. Generate. Prove.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02920" y="2240280"/>
            <a:ext cx="3383280" cy="292608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2240280"/>
            <a:ext cx="3383280" cy="45720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4688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CLASSIFY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7889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class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31520" y="3383280"/>
            <a:ext cx="29260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applicable EU MDR Annex VIII rule is evaluated; the strictest hit wins, per Annex VIII 3.5. Rule ties are stated, never hidden.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913632" y="3429000"/>
            <a:ext cx="3566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297680" y="2240280"/>
            <a:ext cx="3383280" cy="292608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97680" y="2240280"/>
            <a:ext cx="3383280" cy="45720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16" name="Text 14"/>
          <p:cNvSpPr/>
          <p:nvPr/>
        </p:nvSpPr>
        <p:spPr>
          <a:xfrm>
            <a:off x="4526280" y="24688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GENERATE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26280" y="27889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Minimal set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526280" y="3383280"/>
            <a:ext cx="29260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52 tracked artifacts sorted into Required, Conditional, or Eliminated for that exact class.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08392" y="3429000"/>
            <a:ext cx="3566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092440" y="2240280"/>
            <a:ext cx="3383280" cy="292608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92440" y="2240280"/>
            <a:ext cx="3383280" cy="45720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22" name="Text 20"/>
          <p:cNvSpPr/>
          <p:nvPr/>
        </p:nvSpPr>
        <p:spPr>
          <a:xfrm>
            <a:off x="8321040" y="24688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PROVE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321040" y="27889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Cited decision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8321040" y="3383280"/>
            <a:ext cx="29260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ISO 13485 clause and EU MDR reference attach to every artifact — in all three buckets, eliminations included.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6473952"/>
            <a:ext cx="11185855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</a:t>
            </a:r>
            <a:pPr indent="0" marL="0">
              <a:buNone/>
            </a:pPr>
            <a:r>
              <a:rPr lang="en-US" sz="1000" b="1" dirty="0">
                <a:solidFill>
                  <a:srgbClr val="0E7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45775" y="651052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IT’S BUILT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65836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at the edges, deterministic engine at the core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103120" y="1965960"/>
            <a:ext cx="5852160" cy="530352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03120" y="2002536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 text · device image (PNG/JPEG) · form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103120" y="2258568"/>
            <a:ext cx="5852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intake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103120" y="2459736"/>
            <a:ext cx="5852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▾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103120" y="2642616"/>
            <a:ext cx="5852160" cy="530352"/>
          </a:xfrm>
          <a:prstGeom prst="rect">
            <a:avLst/>
          </a:prstGeom>
          <a:solidFill>
            <a:srgbClr val="E3F2EF"/>
          </a:solidFill>
          <a:ln w="17780">
            <a:solidFill>
              <a:srgbClr val="0E7D6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03120" y="2679192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AI agents — Intake Parser · Auditor · Narrator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103120" y="2935224"/>
            <a:ext cx="5852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schema-constrained · offline mock fallback · advisory only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103120" y="3136392"/>
            <a:ext cx="5852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▾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103120" y="3319272"/>
            <a:ext cx="5852160" cy="530352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03120" y="3355848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DeviceProfile — 19 typed attributes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103120" y="3611880"/>
            <a:ext cx="5852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 fill the same form a human uses; no privileged write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103120" y="3813048"/>
            <a:ext cx="5852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▾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103120" y="3995928"/>
            <a:ext cx="5852160" cy="530352"/>
          </a:xfrm>
          <a:prstGeom prst="rect">
            <a:avLst/>
          </a:prstGeom>
          <a:solidFill>
            <a:srgbClr val="FDF5E2"/>
          </a:solidFill>
          <a:ln w="17780">
            <a:solidFill>
              <a:srgbClr val="96690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03120" y="4032504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Rules engine — classify.ts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2103120" y="4288536"/>
            <a:ext cx="5852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EU MDR Annex VIII · strictest rule wins · pure TypeScript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103120" y="4489704"/>
            <a:ext cx="5852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▾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103120" y="4672584"/>
            <a:ext cx="5852160" cy="530352"/>
          </a:xfrm>
          <a:prstGeom prst="rect">
            <a:avLst/>
          </a:prstGeom>
          <a:solidFill>
            <a:srgbClr val="FDF5E2"/>
          </a:solidFill>
          <a:ln w="17780">
            <a:solidFill>
              <a:srgbClr val="96690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03120" y="470916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Knowledge base × filter — 52 artifacts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2103120" y="4965192"/>
            <a:ext cx="5852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bucket + ISO 13485 / MDR / QMSR citation + effort-hours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103120" y="5166360"/>
            <a:ext cx="5852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▾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103120" y="5349240"/>
            <a:ext cx="5852160" cy="530352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03120" y="5385816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UI — class card · bucket tabs · traceability · export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2103120" y="5641848"/>
            <a:ext cx="5852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recomputes live · Markdown export with disclaimer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8503920" y="2468880"/>
            <a:ext cx="30632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5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8686800" y="2606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CLOUD LLM GATEWAY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686800" y="2880360"/>
            <a:ext cx="2697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Reasoning, vision &amp; prose models. API key injected server-side by the proxy — never in the browser bundle.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6473952"/>
            <a:ext cx="11185855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</a:t>
            </a:r>
            <a:pPr indent="0" marL="0">
              <a:buNone/>
            </a:pPr>
            <a:r>
              <a:rPr lang="en-US" sz="1000" b="1" dirty="0">
                <a:solidFill>
                  <a:srgbClr val="0E7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45775" y="651052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INSIDE THE RULES ENGINE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65836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rule votes. The strictest wins. Everything is shown.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02920" y="2057400"/>
            <a:ext cx="6035040" cy="914400"/>
          </a:xfrm>
          <a:prstGeom prst="rect">
            <a:avLst/>
          </a:prstGeom>
          <a:solidFill>
            <a:srgbClr val="FDF5E2"/>
          </a:solidFill>
          <a:ln w="12700">
            <a:solidFill>
              <a:srgbClr val="9669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130552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· 19 device attributes in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31520" y="2441448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invasive? how long? powered? software impact? touches blood? monitors vitals? wound contact? administers substances?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3081528"/>
            <a:ext cx="6035040" cy="914400"/>
          </a:xfrm>
          <a:prstGeom prst="rect">
            <a:avLst/>
          </a:prstGeom>
          <a:solidFill>
            <a:srgbClr val="FDF5E2"/>
          </a:solidFill>
          <a:ln w="12700">
            <a:solidFill>
              <a:srgbClr val="9669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154680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· Every Annex VIII rule fires independently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31520" y="3465576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Rules 1–14 + 22 encoded as conditions over the attributes — each matching rule outputs its own class verdict + which attributes triggered it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4105656"/>
            <a:ext cx="6035040" cy="914400"/>
          </a:xfrm>
          <a:prstGeom prst="rect">
            <a:avLst/>
          </a:prstGeom>
          <a:solidFill>
            <a:srgbClr val="FDF5E2"/>
          </a:solidFill>
          <a:ln w="12700">
            <a:solidFill>
              <a:srgbClr val="9669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178808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· Strictest wins  (Annex VIII, rule 3.5)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31520" y="4489704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classes ranked I &lt; IIa &lt; IIb &lt; III — the highest verdict becomes the class; ties between rules are stated in a caveat, never hidden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5129784"/>
            <a:ext cx="6035040" cy="914400"/>
          </a:xfrm>
          <a:prstGeom prst="rect">
            <a:avLst/>
          </a:prstGeom>
          <a:solidFill>
            <a:srgbClr val="FDF5E2"/>
          </a:solidFill>
          <a:ln w="12700">
            <a:solidFill>
              <a:srgbClr val="9669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202936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· Full trace out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31520" y="5513832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 + deciding rule + ALL rules evaluated + Is/Im/Ir labels + Notified-Body flag + borderline caveats — the expander shows the engine is not a black box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12280" y="2057400"/>
            <a:ext cx="4846320" cy="306324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0" y="219456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WORKED EXAMPLE — DIGITAL THERMOMETER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040880" y="2514600"/>
            <a:ext cx="448056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Attributes: </a:t>
            </a:r>
            <a:pPr indent="0" marL="0">
              <a:lnSpc>
                <a:spcPts val="15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enters body orifice · &lt;60 min · battery-powered · measures temperature (a vital parameter, variation not immediately dangerous)
</a:t>
            </a:r>
            <a:pPr indent="0" marL="0">
              <a:lnSpc>
                <a:spcPts val="15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 5 fires: </a:t>
            </a:r>
            <a:pPr indent="0" marL="0">
              <a:lnSpc>
                <a:spcPts val="15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body orifice, transient → Class I
</a:t>
            </a:r>
            <a:pPr indent="0" marL="0">
              <a:lnSpc>
                <a:spcPts val="15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 10 fires: </a:t>
            </a:r>
            <a:pPr indent="0" marL="0">
              <a:lnSpc>
                <a:spcPts val="15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monitoring of vital parameter → Class IIa
</a:t>
            </a:r>
            <a:pPr indent="0" marL="0">
              <a:lnSpc>
                <a:spcPts val="15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0E7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Strictest wins → Class IIa </a:t>
            </a:r>
            <a:pPr indent="0" marL="0">
              <a:lnSpc>
                <a:spcPts val="15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(deciding rule: Rule 10; Rule 5 still shown in the all-rules expander)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5532120"/>
            <a:ext cx="3611880" cy="713232"/>
          </a:xfrm>
          <a:prstGeom prst="rect">
            <a:avLst/>
          </a:prstGeom>
          <a:solidFill>
            <a:srgbClr val="E3F2EF"/>
          </a:solidFill>
          <a:ln w="12700">
            <a:solidFill>
              <a:srgbClr val="A5D6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" y="5596128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Deterministic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67512" y="583387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profile in → same class out, forever — pure TypeScript, no AI, no network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288536" y="5532120"/>
            <a:ext cx="3611880" cy="713232"/>
          </a:xfrm>
          <a:prstGeom prst="rect">
            <a:avLst/>
          </a:prstGeom>
          <a:solidFill>
            <a:srgbClr val="E3F2EF"/>
          </a:solidFill>
          <a:ln w="12700">
            <a:solidFill>
              <a:srgbClr val="A5D6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53128" y="5596128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Regression-gated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453128" y="583387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expert-verified devices asserted on every engine change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8074152" y="5532120"/>
            <a:ext cx="3611880" cy="713232"/>
          </a:xfrm>
          <a:prstGeom prst="rect">
            <a:avLst/>
          </a:prstGeom>
          <a:solidFill>
            <a:srgbClr val="E3F2EF"/>
          </a:solidFill>
          <a:ln w="12700">
            <a:solidFill>
              <a:srgbClr val="A5D6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38744" y="5596128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Checkable at the source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238744" y="583387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rule mirrors a sentence of Annex VIII — one click to EUR-Lex in the UI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6473952"/>
            <a:ext cx="11185855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</a:t>
            </a:r>
            <a:pPr indent="0" marL="0">
              <a:buNone/>
            </a:pPr>
            <a:r>
              <a:rPr lang="en-US" sz="1000" b="1" dirty="0">
                <a:solidFill>
                  <a:srgbClr val="0E7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45775" y="651052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MODELS BEHIND THE AGENTS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65836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Right model for each job — routed per call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02920" y="2103120"/>
            <a:ext cx="3611880" cy="356616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2103120"/>
            <a:ext cx="3611880" cy="54864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3317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2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GPT-5.4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31520" y="28346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spc="5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REASONING · STRUCTURED EXTRACTION · VISION / OCR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31520" y="3401568"/>
            <a:ext cx="3154680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5204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1 — Intake Parser · Agent 2 — Auditor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31520" y="4069080"/>
            <a:ext cx="3154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Strongest reasoning tier. Parses free text and device images into the 16 typed profile attributes under a strict JSON schema, and independently re-classifies devices against Annex VIII to challenge the engine.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343400" y="2103120"/>
            <a:ext cx="3611880" cy="356616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43400" y="2103120"/>
            <a:ext cx="3611880" cy="54864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23317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2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GPT-5.2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4572000" y="28346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spc="5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REPORT-QUALITY PROSE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0" y="3401568"/>
            <a:ext cx="3154680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35204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3 — Narrator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0" y="4069080"/>
            <a:ext cx="3154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Tuned for long-form writing. Turns each clause-cited elimination into 2–3 sentences of formal technical-file narrative, in the register an auditor expects.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183880" y="2103120"/>
            <a:ext cx="3611880" cy="356616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83880" y="2103120"/>
            <a:ext cx="3611880" cy="54864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24" name="Text 22"/>
          <p:cNvSpPr/>
          <p:nvPr/>
        </p:nvSpPr>
        <p:spPr>
          <a:xfrm>
            <a:off x="8412480" y="23317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2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GPT-5 Mini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8412480" y="28346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spc="5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 / LOW-COST UTILITY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412480" y="3401568"/>
            <a:ext cx="3154680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12480" y="35204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agent — infrastructure only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412480" y="4069080"/>
            <a:ext cx="3154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Validates a newly entered API key with one cheap round-trip before accepting it, and stands by as a fallback route if the larger deployments are saturated.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02920" y="585216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call is schema-constrained (strict JSON), retried on gateway errors, and falls back to a deterministic offline mock — the demo never depends on any of these models being reachable.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6473952"/>
            <a:ext cx="11185855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</a:t>
            </a:r>
            <a:pPr indent="0" marL="0">
              <a:buNone/>
            </a:pPr>
            <a:r>
              <a:rPr lang="en-US" sz="1000" b="1" dirty="0">
                <a:solidFill>
                  <a:srgbClr val="0E7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45775" y="651052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05156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spc="2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DEFENSIBILITY ARGUMENT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069848" y="1600200"/>
            <a:ext cx="10058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4400"/>
              </a:lnSpc>
              <a:buNone/>
            </a:pPr>
            <a:r>
              <a:rPr lang="en-US" sz="3600" dirty="0">
                <a:solidFill>
                  <a:srgbClr val="0E7D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parses and explains.
</a:t>
            </a:r>
            <a:pPr algn="ctr" indent="0" marL="0">
              <a:lnSpc>
                <a:spcPts val="4400"/>
              </a:lnSpc>
              <a:buNone/>
            </a:pPr>
            <a:r>
              <a:rPr lang="en-US" sz="36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deterministic engine decides.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212848" y="3520440"/>
            <a:ext cx="7772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LLM output ever sets a device class or moves an artifact between buckets.</a:t>
            </a:r>
            <a:pPr algn="ctr" indent="0" marL="0">
              <a:lnSpc>
                <a:spcPts val="22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That logic is plain, synchronous TypeScript.
</a:t>
            </a:r>
            <a:pPr algn="ctr" indent="0" marL="0">
              <a:lnSpc>
                <a:spcPts val="22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profile in, same checklist out — every time. Fully reproducible, fully auditable, regression-gated.
</a:t>
            </a:r>
            <a:pPr algn="ctr" indent="0" marL="0">
              <a:lnSpc>
                <a:spcPts val="22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is the direct answer to “you can’t let AI decide medical device compliance.” We don’t.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6473952"/>
            <a:ext cx="11185855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</a:t>
            </a:r>
            <a:pPr indent="0" marL="0">
              <a:buNone/>
            </a:pPr>
            <a:r>
              <a:rPr lang="en-US" sz="1000" b="1" dirty="0">
                <a:solidFill>
                  <a:srgbClr val="0E7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45775" y="651052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KNOWLEDGE BASE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65836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are the 52 artifacts — and why 52, not 200?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02920" y="2057400"/>
            <a:ext cx="3611880" cy="137160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67128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QMS CORE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246888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Quality manual, document/records control, CAPA, complaints, nonconforming product, calibration, batch records, audits, training, purchasing, installation/servicing, PRRC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43400" y="2057400"/>
            <a:ext cx="3611880" cy="137160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2167128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TECHNICAL DOCUMENTATION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26280" y="246888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Technical file structure, GSPR checklist, risk management file, design &amp; development file, labeling, IFU, UDI, EUDAMED, NB records, implant card, AR mandate, substances, DoC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83880" y="2057400"/>
            <a:ext cx="3611880" cy="137160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6760" y="2167128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CLINICAL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366760" y="246888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Clinical evaluation (CEP/CER), clinical investigation, SSCP, PMCF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3630168"/>
            <a:ext cx="3611880" cy="137160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739896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 VERIFICATION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5800" y="4041648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Biocompatibility, sterilization &amp; packaging validation (ISO 11607), electrical safety (IEC 60601), EMC, shelf life, usability, process validation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43400" y="3630168"/>
            <a:ext cx="3611880" cy="137160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26280" y="3739896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SOFTWARE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26280" y="4041648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IEC 62304 lifecycle file, cybersecurity documentation, QMS software validation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183880" y="3630168"/>
            <a:ext cx="3611880" cy="137160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66760" y="3739896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POST-MARKET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366760" y="4041648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PMS plan &amp; report, PSUR, vigilance, FSCA/FSN, trend reporting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02920" y="5303520"/>
            <a:ext cx="11155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artifact = one entry: ISO 13485 clause + EU MDR article/annex + FDA QMSR reference + effort-hours + an evaluate() rule deciding Required / Conditional / Eliminated for the specific device — with a clause-cited justification either way.  </a:t>
            </a:r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52, not 200: every entry is human-verified against the regulation. Citation quality over checkbox coverage — one wrong citation costs more credibility than fifty missing artifacts.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6473952"/>
            <a:ext cx="11185855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</a:t>
            </a:r>
            <a:pPr indent="0" marL="0">
              <a:buNone/>
            </a:pPr>
            <a:r>
              <a:rPr lang="en-US" sz="1000" b="1" dirty="0">
                <a:solidFill>
                  <a:srgbClr val="0E7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45775" y="651052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“CHATGPT CAN CLASSIFY A DEVICE TOO”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65836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Often right. That’s not the bar for compliance.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02920" y="2103120"/>
            <a:ext cx="5486400" cy="1572768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2103120"/>
            <a:ext cx="45720" cy="1572768"/>
          </a:xfrm>
          <a:prstGeom prst="rect">
            <a:avLst/>
          </a:prstGeom>
          <a:solidFill>
            <a:srgbClr val="C62B38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21284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reproducible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560320"/>
            <a:ext cx="5029200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device, different wording or different day → different class. A regulatory determination must give the same answer every time. Our engine is deterministic TypeScript with a regression gate.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99632" y="2103120"/>
            <a:ext cx="5486400" cy="1572768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99632" y="2103120"/>
            <a:ext cx="45720" cy="1572768"/>
          </a:xfrm>
          <a:prstGeom prst="rect">
            <a:avLst/>
          </a:prstGeom>
          <a:solidFill>
            <a:srgbClr val="C62B38"/>
          </a:solidFill>
          <a:ln/>
        </p:spPr>
      </p:sp>
      <p:sp>
        <p:nvSpPr>
          <p:cNvPr id="14" name="Text 12"/>
          <p:cNvSpPr/>
          <p:nvPr/>
        </p:nvSpPr>
        <p:spPr>
          <a:xfrm>
            <a:off x="6428232" y="221284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signal when wrong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28232" y="2560320"/>
            <a:ext cx="5029200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LLM is equally confident on the borderline cases it gets wrong — and compliance is entirely about the borderline cases. A tool that’s usually right, with no way to tell when it isn’t, cannot be relied 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877056"/>
            <a:ext cx="5486400" cy="1572768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3877056"/>
            <a:ext cx="45720" cy="1572768"/>
          </a:xfrm>
          <a:prstGeom prst="rect">
            <a:avLst/>
          </a:prstGeom>
          <a:solidFill>
            <a:srgbClr val="C62B38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98678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Citations you can’t trust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4334256"/>
            <a:ext cx="5029200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LLMs hallucinate plausible clause numbers. Every DocLite citation was human-verified, is version-controlled, and links to the article on EUR-Lex. Click it and read the law.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99632" y="3877056"/>
            <a:ext cx="5486400" cy="1572768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99632" y="3877056"/>
            <a:ext cx="45720" cy="1572768"/>
          </a:xfrm>
          <a:prstGeom prst="rect">
            <a:avLst/>
          </a:prstGeom>
          <a:solidFill>
            <a:srgbClr val="C62B38"/>
          </a:solidFill>
          <a:ln/>
        </p:spPr>
      </p:sp>
      <p:sp>
        <p:nvSpPr>
          <p:cNvPr id="22" name="Text 20"/>
          <p:cNvSpPr/>
          <p:nvPr/>
        </p:nvSpPr>
        <p:spPr>
          <a:xfrm>
            <a:off x="6428232" y="398678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Nothing to show an auditor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28232" y="4334256"/>
            <a:ext cx="5029200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“ChatGPT said we don’t need it” is a nonconformity. “Not required per Art. 61(4), recorded in our elimination register” is a defense. One is a chat transcript; the other is a regulatory artifact.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58064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E7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use LLMs where fuzziness is safe — reading descriptions, reading images, critiquing, writing prose. Never for the determination. That split is the product.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6473952"/>
            <a:ext cx="11185855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</a:t>
            </a:r>
            <a:pPr indent="0" marL="0">
              <a:buNone/>
            </a:pPr>
            <a:r>
              <a:rPr lang="en-US" sz="1000" b="1" dirty="0">
                <a:solidFill>
                  <a:srgbClr val="0E7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45775" y="651052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ANTICIPATED QUESTIONS — ANSWERED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65836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&amp; value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02920" y="2011680"/>
            <a:ext cx="11155680" cy="1298448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1031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  Large manufacturers already have every document — where’s the saving?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450592"/>
            <a:ext cx="10698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Documents aren’t a one-time cost: each one is filled per device, reviewed, approved, updated on every design change, and defended at every audit — for the device’s life. Fewer documents = less recurring maintenance and less audit surface, multiplied across the whole portfolio. The bigger the company, the bigger the absolute saving.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3438144"/>
            <a:ext cx="11155680" cy="1298448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529584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  Editing a ready template takes half an hour — what time are you saving?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3877056"/>
            <a:ext cx="10698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expensive documents record work, not writing: a clinical investigation is a study (~400 h), IEC 60601 is a test-lab campaign, sterilization validation is physical runs. You cannot ‘edit’ a report for a test you never ran. Elimination removes the testing, studies, and reviews behind the paper — plus their lifetime of change control.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4864608"/>
            <a:ext cx="11155680" cy="1298448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956048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  Does DocLite write the procedures we submit?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5303520"/>
            <a:ext cx="10698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— deliberately. Drafting tools exist; the unsolved problem is scope. DocLite outputs the documentation plan and the clause-cited elimination register — both audit-ready artifacts that go in the technical file as-is. Deciding and defending what the file contains is the layer nobody else owns.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6473952"/>
            <a:ext cx="11185855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</a:t>
            </a:r>
            <a:pPr indent="0" marL="0">
              <a:buNone/>
            </a:pPr>
            <a:r>
              <a:rPr lang="en-US" sz="1000" b="1" dirty="0">
                <a:solidFill>
                  <a:srgbClr val="0E7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45775" y="651052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ANTICIPATED QUESTIONS — ANSWERED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65836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 &amp; extension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02920" y="2011680"/>
            <a:ext cx="11155680" cy="1298448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1031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  How do you know the rules engine is correct?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450592"/>
            <a:ext cx="10698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Encoded from Annex VIII text per MDCG 2021-24; every engine change must pass a growing regression suite of expert-verified devices (9 cases today, incl. rule-tie, Rule 4/12/22 traps); an adversarial GPT-5.4 auditor independently re-classifies at runtime and flags disagreement; and an RA professional signs off — we are decision support, not sign-off.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3438144"/>
            <a:ext cx="11155680" cy="1298448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529584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  What happens when regulations change?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3877056"/>
            <a:ext cx="10698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knowledge base is a version-controlled snapshot — deliberately not live-scraped, so every answer stays reproducible. Roadmap: monitored official sources (EUR-Lex, MDCG), human RA approval on every change, KB version stamped into each export, full regression re-run per update.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4864608"/>
            <a:ext cx="11155680" cy="1298448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956048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  Why doesn’t it do FDA classification?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5303520"/>
            <a:ext cx="10698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EU classification is an algorithm written in the law — 22 rules, directly encodable. FDA classification is a catalog (~1,700 product codes) — a matching problem, not a rules problem. Same architecture extends: AI suggests the product code (advisory), a deterministic lookup of the code’s exemption flags decides. QMSR documentation mapping is already built in.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6473952"/>
            <a:ext cx="11185855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</a:t>
            </a:r>
            <a:pPr indent="0" marL="0">
              <a:buNone/>
            </a:pPr>
            <a:r>
              <a:rPr lang="en-US" sz="1000" b="1" dirty="0">
                <a:solidFill>
                  <a:srgbClr val="0E7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45775" y="651052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 DECISION, TRACED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65836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 → MDR reference → ISO clause — in all three buckets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02920" y="2148840"/>
            <a:ext cx="3611880" cy="457200"/>
          </a:xfrm>
          <a:prstGeom prst="rect">
            <a:avLst/>
          </a:prstGeom>
          <a:solidFill>
            <a:srgbClr val="FDECEC"/>
          </a:solidFill>
          <a:ln w="12700">
            <a:solidFill>
              <a:srgbClr val="C62B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14884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C62B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606040"/>
            <a:ext cx="3611880" cy="274320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83464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Clinical Evaluation Report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31520" y="34747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sepsis SaMD · Class III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4480560"/>
            <a:ext cx="3154680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57200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MDR Art. 61 · Annex XIV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43400" y="2148840"/>
            <a:ext cx="3611880" cy="457200"/>
          </a:xfrm>
          <a:prstGeom prst="rect">
            <a:avLst/>
          </a:prstGeom>
          <a:solidFill>
            <a:srgbClr val="FDF5E2"/>
          </a:solidFill>
          <a:ln w="12700">
            <a:solidFill>
              <a:srgbClr val="9669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43400" y="214884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9669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CONDITIONAL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43400" y="2606040"/>
            <a:ext cx="3611880" cy="274320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283464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Instructions for Use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4572000" y="34747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Digital thermometer · Class IIa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0" y="4480560"/>
            <a:ext cx="3154680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457200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Annex I §23.1(d) — omission possible for Class I/IIa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183880" y="2148840"/>
            <a:ext cx="3611880" cy="457200"/>
          </a:xfrm>
          <a:prstGeom prst="rect">
            <a:avLst/>
          </a:prstGeom>
          <a:solidFill>
            <a:srgbClr val="E5F3E9"/>
          </a:solidFill>
          <a:ln w="12700">
            <a:solidFill>
              <a:srgbClr val="1A7F3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83880" y="214884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A7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ELIMINATED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83880" y="2606040"/>
            <a:ext cx="3611880" cy="274320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0" y="283464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IEC 62304 Software File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8412480" y="34747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Reusable surgical scissors · Class Ir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412480" y="4480560"/>
            <a:ext cx="3154680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12480" y="457200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Annex I §17.1 — n/a, no software component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6473952"/>
            <a:ext cx="11185855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</a:t>
            </a:r>
            <a:pPr indent="0" marL="0">
              <a:buNone/>
            </a:pPr>
            <a:r>
              <a:rPr lang="en-US" sz="1000" b="1" dirty="0">
                <a:solidFill>
                  <a:srgbClr val="0E7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45775" y="651052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RIGOR SCALES WITH RISK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65836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Effort-hours saved vs. the uniform-rigor baseline</a:t>
            </a:r>
            <a:endParaRPr lang="en-US" sz="26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822960" y="2148840"/>
          <a:ext cx="53035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6675120" y="2834640"/>
            <a:ext cx="4892040" cy="173736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949440" y="3017520"/>
            <a:ext cx="4389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Class I stethoscope sheds ~64% of the uniform paper trail; a Class III AI diagnostic keeps ~85% of it.
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IIa and IIb fall between — each device’s exact savings come from its specific artifact mix, not a fixed interpolation.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6473952"/>
            <a:ext cx="11185855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</a:t>
            </a:r>
            <a:pPr indent="0" marL="0">
              <a:buNone/>
            </a:pPr>
            <a:r>
              <a:rPr lang="en-US" sz="1000" b="1" dirty="0">
                <a:solidFill>
                  <a:srgbClr val="0E7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45775" y="651052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WATCH IT LIVE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65836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pre-verified devices, spanning Class I to III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02920" y="2194560"/>
            <a:ext cx="2148840" cy="246888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2194560"/>
            <a:ext cx="2148840" cy="54864"/>
          </a:xfrm>
          <a:prstGeom prst="rect">
            <a:avLst/>
          </a:prstGeom>
          <a:solidFill>
            <a:srgbClr val="1A7F37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4231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2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685800" y="290779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STETHOSCOPE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5800" y="356616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Non-invasive, passive — baseline case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61488" y="2194560"/>
            <a:ext cx="2148840" cy="246888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61488" y="2194560"/>
            <a:ext cx="2148840" cy="54864"/>
          </a:xfrm>
          <a:prstGeom prst="rect">
            <a:avLst/>
          </a:prstGeom>
          <a:solidFill>
            <a:srgbClr val="5C9E52"/>
          </a:solidFill>
          <a:ln/>
        </p:spPr>
      </p:sp>
      <p:sp>
        <p:nvSpPr>
          <p:cNvPr id="15" name="Text 13"/>
          <p:cNvSpPr/>
          <p:nvPr/>
        </p:nvSpPr>
        <p:spPr>
          <a:xfrm>
            <a:off x="2944368" y="24231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2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2944368" y="290779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SURGICAL SCISSORS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944368" y="356616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Reusable surgical instrument — special label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0056" y="2194560"/>
            <a:ext cx="2148840" cy="246888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0056" y="2194560"/>
            <a:ext cx="2148840" cy="54864"/>
          </a:xfrm>
          <a:prstGeom prst="rect">
            <a:avLst/>
          </a:prstGeom>
          <a:solidFill>
            <a:srgbClr val="96690A"/>
          </a:solidFill>
          <a:ln/>
        </p:spPr>
      </p:sp>
      <p:sp>
        <p:nvSpPr>
          <p:cNvPr id="20" name="Text 18"/>
          <p:cNvSpPr/>
          <p:nvPr/>
        </p:nvSpPr>
        <p:spPr>
          <a:xfrm>
            <a:off x="5202936" y="24231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2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IIa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5202936" y="290779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 THERMOMETER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202936" y="356616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Active, low risk — conditional IFU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278624" y="2194560"/>
            <a:ext cx="2148840" cy="246888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78624" y="2194560"/>
            <a:ext cx="2148840" cy="54864"/>
          </a:xfrm>
          <a:prstGeom prst="rect">
            <a:avLst/>
          </a:prstGeom>
          <a:solidFill>
            <a:srgbClr val="BC4C00"/>
          </a:solidFill>
          <a:ln/>
        </p:spPr>
      </p:sp>
      <p:sp>
        <p:nvSpPr>
          <p:cNvPr id="25" name="Text 23"/>
          <p:cNvSpPr/>
          <p:nvPr/>
        </p:nvSpPr>
        <p:spPr>
          <a:xfrm>
            <a:off x="7461504" y="24231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2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IIb</a:t>
            </a:r>
            <a:endParaRPr lang="en-US" sz="2300" dirty="0"/>
          </a:p>
        </p:txBody>
      </p:sp>
      <p:sp>
        <p:nvSpPr>
          <p:cNvPr id="26" name="Text 24"/>
          <p:cNvSpPr/>
          <p:nvPr/>
        </p:nvSpPr>
        <p:spPr>
          <a:xfrm>
            <a:off x="7461504" y="290779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HEMODIALYSIS MACHINE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461504" y="356616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Active, higher risk — life-supporting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537192" y="2194560"/>
            <a:ext cx="2148840" cy="246888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537192" y="2194560"/>
            <a:ext cx="2148840" cy="54864"/>
          </a:xfrm>
          <a:prstGeom prst="rect">
            <a:avLst/>
          </a:prstGeom>
          <a:solidFill>
            <a:srgbClr val="C62B38"/>
          </a:solidFill>
          <a:ln/>
        </p:spPr>
      </p:sp>
      <p:sp>
        <p:nvSpPr>
          <p:cNvPr id="30" name="Text 28"/>
          <p:cNvSpPr/>
          <p:nvPr/>
        </p:nvSpPr>
        <p:spPr>
          <a:xfrm>
            <a:off x="9720072" y="24231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2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III</a:t>
            </a:r>
            <a:endParaRPr lang="en-US" sz="2300" dirty="0"/>
          </a:p>
        </p:txBody>
      </p:sp>
      <p:sp>
        <p:nvSpPr>
          <p:cNvPr id="31" name="Text 29"/>
          <p:cNvSpPr/>
          <p:nvPr/>
        </p:nvSpPr>
        <p:spPr>
          <a:xfrm>
            <a:off x="9720072" y="290779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SEPSIS SAMD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720072" y="356616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Software as a medical device — highest scrutiny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2920" y="493776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 RISK  ─────────────────────────────→  HIGH RISK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6473952"/>
            <a:ext cx="11185855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</a:t>
            </a:r>
            <a:pPr indent="0" marL="0">
              <a:buNone/>
            </a:pPr>
            <a:r>
              <a:rPr lang="en-US" sz="1000" b="1" dirty="0">
                <a:solidFill>
                  <a:srgbClr val="0E7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45775" y="651052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WE’RE NOT CLAIMING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65836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Known limitations, stated openly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02920" y="2148840"/>
            <a:ext cx="11155680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313432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DECISION SUPPORT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880360" y="2267712"/>
            <a:ext cx="8778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a sign-off. An RA professional signs off — disclaimed in the UI and in every export.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02920" y="3081528"/>
            <a:ext cx="11155680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2461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 COVERAGE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880360" y="3200400"/>
            <a:ext cx="8778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Rules 1–14 + 22 implemented (incl. wound dressings, infusion pumps, pacemaker software). Rules 15–21 (contraceptives, disinfectants, nanomaterials, inhaled/absorbed substances) remain roadmap.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02920" y="4014216"/>
            <a:ext cx="11155680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17880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“ELIMINATED”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880360" y="4133088"/>
            <a:ext cx="8778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Means regulatory minimum — a Notified Body or customer may still request the document.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02920" y="4946904"/>
            <a:ext cx="11155680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5111496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 CLASS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880360" y="5065776"/>
            <a:ext cx="8778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indicative mapping, not a product-code determination.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02920" y="5879592"/>
            <a:ext cx="11155680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6473952"/>
            <a:ext cx="11185855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</a:t>
            </a:r>
            <a:pPr indent="0" marL="0">
              <a:buNone/>
            </a:pPr>
            <a:r>
              <a:rPr lang="en-US" sz="1000" b="1" dirty="0">
                <a:solidFill>
                  <a:srgbClr val="0E7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45775" y="651052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/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spc="3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THANK YOU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298448" y="2194560"/>
            <a:ext cx="9601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27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competitor here sells speed on 200 documents.
</a:t>
            </a:r>
            <a:pPr algn="ctr" indent="0" marL="0">
              <a:lnSpc>
                <a:spcPts val="3600"/>
              </a:lnSpc>
              <a:buNone/>
            </a:pPr>
            <a:r>
              <a:rPr lang="en-US" sz="2700" dirty="0">
                <a:solidFill>
                  <a:srgbClr val="0E7D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DocLite sells proof that 120 of them were never required</a:t>
            </a:r>
            <a:pPr algn="ctr" indent="0" marL="0">
              <a:lnSpc>
                <a:spcPts val="3600"/>
              </a:lnSpc>
              <a:buNone/>
            </a:pPr>
            <a:r>
              <a:rPr lang="en-US" sz="27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with the clause number to back up every one we cut.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298448" y="45720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Deterministic rules engine · 3 advisory AI agents · clause-cited eliminations · Vite + React 19 + TypeScript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98448" y="50749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QUESTIONS WELCOME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2026-07-09T21:38:47Z</dcterms:created>
  <dcterms:modified xsi:type="dcterms:W3CDTF">2026-07-09T21:38:47Z</dcterms:modified>
</cp:coreProperties>
</file>