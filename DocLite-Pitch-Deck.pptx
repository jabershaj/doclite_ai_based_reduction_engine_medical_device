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5A9C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A9C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8A-4022-A979-1F73098ECC2A}"/>
              </c:ext>
            </c:extLst>
          </c:dPt>
          <c:dPt>
            <c:idx val="1"/>
            <c:invertIfNegative val="0"/>
            <c:bubble3D val="0"/>
            <c:spPr>
              <a:solidFill>
                <a:srgbClr val="D66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8A-4022-A979-1F73098ECC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E7E4DC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 I</c:v>
                </c:pt>
                <c:pt idx="1">
                  <c:v>Class III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8A-4022-A979-1F73098ECC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242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9C4B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40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836B-72D2-127E-A966-7F759D71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4C504-1A33-67C6-45D8-0D2FEDA8E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87DA0-6EE2-EB6A-AC94-AE400DDC7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8409C-03E7-C281-92F9-434D00141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59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116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659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652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201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413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77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114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254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3089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1070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01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65843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309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903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418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5611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1653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smtClean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45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" y="12344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36576" cy="105156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“We don’t help you write 200 documents faster.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prove you only needed 80.”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· React 19 · TypeScript · cloud LLM gateway · no backend, no database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3F78-3502-DEDE-DA6C-1C28E56B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7D1B28-2861-0663-11D4-52F104EA5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7" y="133350"/>
            <a:ext cx="11806846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3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4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 risk-based.</a:t>
            </a:r>
            <a:endParaRPr lang="en-US" sz="34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4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practice isn’t.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2017/745 explicitly scales requirements to device risk — that’s the whole premise of Annex VIII.
Manufacturers apply the same documentation rigor to a Class I stethoscope as to a Class III implant anyway.
No tool defensibly maps device risk down to a minimal compliant documentation set — with proof for every cut.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2743200"/>
            <a:ext cx="4023360" cy="210312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288036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7909560" y="3977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19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risk classes (I, IIa, IIb, III) — one uniform paper trail applied across all of them, today.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EXISTING TOOLS DON’T FIX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FormlyAI, Celegence CAPTIS, Greenlight Guru — and DocLite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5349240" cy="3063240"/>
          </a:xfrm>
          <a:prstGeom prst="rect">
            <a:avLst/>
          </a:prstGeom>
          <a:ln w="12700">
            <a:solidFill>
              <a:srgbClr val="2A3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  ·  Celegence CAPTIS  ·  Greenlight Guru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200 documents faster.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0"/>
            <a:ext cx="5349240" cy="3063240"/>
          </a:xfrm>
          <a:prstGeom prst="rect">
            <a:avLst/>
          </a:prstGeom>
          <a:solidFill>
            <a:srgbClr val="161D29"/>
          </a:solidFill>
          <a:ln w="15875">
            <a:solidFill>
              <a:srgbClr val="2E5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project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2600"/>
              </a:lnSpc>
              <a:buNone/>
            </a:pPr>
            <a:r>
              <a:rPr lang="en-US" sz="22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 only needed 80 of them — with clause-cited proof for every one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246120" cy="2743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67328" y="320040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51960" y="2880360"/>
            <a:ext cx="3246120" cy="2743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251960" y="397764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tracked artifacts sorted into Required, Conditional, or Eliminated for that exact class.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16368" y="3200400"/>
            <a:ext cx="466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01000" y="2880360"/>
            <a:ext cx="3246120" cy="2743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30632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3383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MDR reference attach to every artifact — in all three buckets.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1234440"/>
            <a:ext cx="5669280" cy="566928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28930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photo (OCR) · form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8013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2020824"/>
            <a:ext cx="5669280" cy="566928"/>
          </a:xfrm>
          <a:prstGeom prst="rect">
            <a:avLst/>
          </a:prstGeom>
          <a:solidFill>
            <a:srgbClr val="161D29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07568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AgentDock → ai/agents.ts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37360" y="234086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agents · mock fallback · parses only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258775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807208"/>
            <a:ext cx="5669280" cy="566928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8620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37360" y="312724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typed attributes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337413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3593592"/>
            <a:ext cx="5669280" cy="566928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64845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engine/classify.ts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737360" y="3913632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416052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4379976"/>
            <a:ext cx="5669280" cy="566928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4348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engine/filter.ts × knowledgeBase.ts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737360" y="4700016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artifacts · bucket + citation + effort-hours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4946904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37360" y="5166360"/>
            <a:ext cx="5669280" cy="566928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522122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buckets, traceability, savings, export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737360" y="5486400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live, no submit button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2331720"/>
            <a:ext cx="3566160" cy="1417320"/>
          </a:xfrm>
          <a:prstGeom prst="rect">
            <a:avLst/>
          </a:prstGeom>
          <a:ln w="12700">
            <a:solidFill>
              <a:srgbClr val="2A324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13816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Reasoning, vision &amp; lightweight models — key injected server-side by the dev proxy, never bundled to the browser.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9848" y="1965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6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r>
              <a:rPr lang="en-US" sz="36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441448" y="374904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r>
              <a:rPr lang="en-US" sz="145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Same profile in, same checklist out — every time. Fully reproducible, fully auditable.
This is the direct answer to “you can’t let AI decide medical device compliance.” We don’t.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for all three buckets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3520440" cy="457200"/>
          </a:xfrm>
          <a:prstGeom prst="rect">
            <a:avLst/>
          </a:prstGeom>
          <a:solidFill>
            <a:srgbClr val="E9E4D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3520440" cy="251460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37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9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30632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solidFill>
            <a:srgbClr val="C9C4B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154680"/>
            <a:ext cx="3520440" cy="251460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337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9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4892040"/>
            <a:ext cx="30632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2697480"/>
            <a:ext cx="3520440" cy="4572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3154680"/>
            <a:ext cx="3520440" cy="251460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3375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9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4892040"/>
            <a:ext cx="30632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uniform-rigor baseline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42316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32004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</a:t>
            </a:r>
            <a:r>
              <a:rPr lang="en-US" sz="1400" dirty="0">
                <a:solidFill>
                  <a:srgbClr val="919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exact savings depend on each device’s specific artifact mix, not a fixed interpolation.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2084832" cy="45720"/>
          </a:xfrm>
          <a:prstGeom prst="rect">
            <a:avLst/>
          </a:prstGeom>
          <a:solidFill>
            <a:srgbClr val="5A9C5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51760"/>
            <a:ext cx="2084832" cy="224028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834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" y="32918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38862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2606040"/>
            <a:ext cx="2084832" cy="45720"/>
          </a:xfrm>
          <a:prstGeom prst="rect">
            <a:avLst/>
          </a:prstGeom>
          <a:solidFill>
            <a:srgbClr val="7FAE5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15768" y="2651760"/>
            <a:ext cx="2084832" cy="224028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834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0360" y="32918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80360" y="38862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28616" y="2606040"/>
            <a:ext cx="2084832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8616" y="2651760"/>
            <a:ext cx="2084832" cy="224028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2834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93208" y="32918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93208" y="38862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41464" y="2606040"/>
            <a:ext cx="2084832" cy="45720"/>
          </a:xfrm>
          <a:prstGeom prst="rect">
            <a:avLst/>
          </a:prstGeom>
          <a:solidFill>
            <a:srgbClr val="D68A3F"/>
          </a:solidFill>
          <a:ln/>
        </p:spPr>
      </p:sp>
      <p:sp>
        <p:nvSpPr>
          <p:cNvPr id="22" name="Shape 20"/>
          <p:cNvSpPr/>
          <p:nvPr/>
        </p:nvSpPr>
        <p:spPr>
          <a:xfrm>
            <a:off x="7141464" y="2651760"/>
            <a:ext cx="2084832" cy="224028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2834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06056" y="32918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06056" y="38862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54312" y="2606040"/>
            <a:ext cx="2084832" cy="45720"/>
          </a:xfrm>
          <a:prstGeom prst="rect">
            <a:avLst/>
          </a:prstGeom>
          <a:solidFill>
            <a:srgbClr val="D6603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54312" y="2651760"/>
            <a:ext cx="2084832" cy="2240280"/>
          </a:xfrm>
          <a:prstGeom prst="rect">
            <a:avLst/>
          </a:prstGeom>
          <a:solidFill>
            <a:srgbClr val="161D29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18904" y="283464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18904" y="329184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518904" y="3886200"/>
            <a:ext cx="1755648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120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———————————→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96926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7432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96926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36118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Demo-scoped subset of Annex VIII. Rules 4, 12, and 15–22 (except 14) are not yet implemented.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96926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26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44805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257800"/>
            <a:ext cx="9692640" cy="9144"/>
          </a:xfrm>
          <a:prstGeom prst="rect">
            <a:avLst/>
          </a:prstGeom>
          <a:solidFill>
            <a:srgbClr val="2A324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5394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53492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C4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6126480"/>
            <a:ext cx="9692640" cy="9144"/>
          </a:xfrm>
          <a:prstGeom prst="rect">
            <a:avLst/>
          </a:prstGeom>
          <a:solidFill>
            <a:srgbClr val="2A3242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r>
              <a:rPr lang="en-US" sz="1000" kern="0" spc="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3272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0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27048" y="22860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7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r>
              <a:rPr lang="en-US" sz="27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r>
              <a:rPr lang="en-US" sz="2700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27048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LLM-assisted intake · Vite + React 19 + TypeScript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527048" y="5074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19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Custom 3">
      <a:dk1>
        <a:srgbClr val="2F2F2F"/>
      </a:dk1>
      <a:lt1>
        <a:srgbClr val="2F2F2F"/>
      </a:lt1>
      <a:dk2>
        <a:srgbClr val="2F2F2F"/>
      </a:dk2>
      <a:lt2>
        <a:srgbClr val="2F2F2F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41</TotalTime>
  <Words>824</Words>
  <Application>Microsoft Office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Calisto MT</vt:lpstr>
      <vt:lpstr>Consolas</vt:lpstr>
      <vt:lpstr>Georgia</vt:lpstr>
      <vt:lpstr>Segoe UI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Jabersha J</cp:lastModifiedBy>
  <cp:revision>2</cp:revision>
  <dcterms:created xsi:type="dcterms:W3CDTF">2026-07-09T04:14:29Z</dcterms:created>
  <dcterms:modified xsi:type="dcterms:W3CDTF">2026-07-09T07:08:40Z</dcterms:modified>
</cp:coreProperties>
</file>